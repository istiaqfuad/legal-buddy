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87C8A9-6CF0-40D9-9CC3-CB1218ACED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[0:00–0:45]  Introduce yourself, the team code, the competition category.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 the problem: citizens face catastrophic hallucination when consulting generic AI on legal matters.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Preview the four layers you will walk through.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3F1FD9-0323-4609-BD22-88B1572ED8E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[0:45–1:35]  Walk left-to-right through each service card.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Emphasize: single Docker Compose command, health-gated startup.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is this codebase organized to prevent ingestion and retrieval from drifting apart?"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CDF84B-5330-4DAD-B613-D8357A3249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[1:35–2:20]  Emphasize apps/shared as the immutable bridge.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Both API and ingestion import from it — guarantees mathematical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"Let's zoom into ingestion, where we uncovered the truncation trap."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15F3C2-25E1-41AF-A766-158894419F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[2:20–3:15]  Explain the truncation trap: 1200 chars → 300+ tokens → 128-tok model loses 60%.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to each stat card: corpus size, chunk boundary, embedding dims, batch size.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"Now that 35,312 sections are indexed, what happens when a citizen types a query?"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6B4FB8-9416-45E2-9E29-D420052DF4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[3:15–4:10]  Walk through each step. Use the Bengali example for Rewrite.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Step 3 (Gate) as the circuit breaker — most RAG systems skip this entirely.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do we distinguish off-topic from ambiguous from verified? Our confidence gating."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7967E0-85A7-4F6F-A77F-5DAAD7DED9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[4:10–5:05]  Explain each tier. Use the pizza recipe example for &lt; 0.79.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criminal intimidation §503 example for the marginal zone.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"Once passages pass gating, why does Gemma 4 behave so reliably? Our fine-tuning philosophy."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FED123-4858-4AFB-889B-5D147C34681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[5:05–6:00]  Emphasize the mantra: teach behavior, not law.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4 stat cards: dataset composition, model specs, loss improvement, citation purity.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does this 31B model actually run in production?"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A91457-211D-47FE-A370-87723F542F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[6:00–6:55]  Point to each tier card: institutional, law firm, consumer.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 the serving details — emphasize air-gapped privacy and zero API fees.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"Every architectural choice was proven through measurement."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E2FA39-F91A-46E1-8E30-B245F0AD11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[7:55–8:45]  Walk through each band. Close with the summary statement.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"LegalBuddy is not a wrapper around an LLM — it is an end-to-end, privacy-preserving, empirically verified legal intelligence system."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floor for Q&amp;A.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27E0FD-75F3-41D7-A643-03BFEA4699D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B4C7F1-1998-4DA0-9D8F-76D7F8022D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97A257-0D6C-474F-BC13-AA037DB57C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FE9E96-A1CE-46DF-8CB8-291F9836E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FB7BB0-5957-4663-9BEA-CB53715274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98B6C6-D460-4693-ACAD-71FBA6899C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D673F7-F536-449A-82D4-A2D0C6DC99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22632A-DD2D-4F1D-868E-3AB6984503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DC1FA3-DCA4-4591-B432-13D6B40E2B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AEE0CA-18A4-4EDE-B995-18DF42A497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16DAC9-2701-4A16-96F9-63D88C51D2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ADFD25-D76B-4E08-9894-0AA6E39FF5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F6E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97280" y="2011680"/>
            <a:ext cx="10058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5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LegalBuddy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Full Backend Architecture &amp; Serving Infrastructure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97280" y="5303520"/>
            <a:ext cx="1005804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Technopreneurship 2.0 by Gigalogy – session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— Istiaqur Rahman Fuad, University of Rajshahi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Four services, one command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Goal: reproducible deployment — one command, any machine. The hard part was startup order: traffic only after models are warm.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6"/>
          <p:cNvSpPr/>
          <p:nvPr/>
        </p:nvSpPr>
        <p:spPr>
          <a:xfrm>
            <a:off x="822960" y="2423160"/>
            <a:ext cx="2578320" cy="26056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1097280" y="269748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Web chat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1097280" y="313632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:3000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1097280" y="3611880"/>
            <a:ext cx="2029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Next.js 15 streaming UI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with interactive citation badges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0"/>
          <p:cNvSpPr/>
          <p:nvPr/>
        </p:nvSpPr>
        <p:spPr>
          <a:xfrm>
            <a:off x="3584520" y="2423160"/>
            <a:ext cx="2578320" cy="26056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3858840" y="269748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RAG API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3858840" y="313632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:8000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3858840" y="3611880"/>
            <a:ext cx="2029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FastAPI orchestrator — query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rewriting, embedding, gating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4"/>
          <p:cNvSpPr/>
          <p:nvPr/>
        </p:nvSpPr>
        <p:spPr>
          <a:xfrm>
            <a:off x="6346080" y="2423160"/>
            <a:ext cx="2578320" cy="26056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6620400" y="269748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Qdrant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6"/>
          <p:cNvSpPr/>
          <p:nvPr/>
        </p:nvSpPr>
        <p:spPr>
          <a:xfrm>
            <a:off x="6620400" y="313632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:6333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6620400" y="3611880"/>
            <a:ext cx="2029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35,312 statutory sections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indexed via cosine HNSW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8"/>
          <p:cNvSpPr/>
          <p:nvPr/>
        </p:nvSpPr>
        <p:spPr>
          <a:xfrm>
            <a:off x="9107280" y="2423160"/>
            <a:ext cx="2578320" cy="260568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9381600" y="269748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Gemma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9381600" y="313632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:8080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1"/>
          <p:cNvSpPr/>
          <p:nvPr/>
        </p:nvSpPr>
        <p:spPr>
          <a:xfrm>
            <a:off x="9381600" y="3611880"/>
            <a:ext cx="2029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31B 4-bit GGUF on llama.cpp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18.2 GB RAM footprint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2"/>
          <p:cNvSpPr/>
          <p:nvPr/>
        </p:nvSpPr>
        <p:spPr>
          <a:xfrm>
            <a:off x="822960" y="58064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docker compose up starts everything. Lifespan handlers hold traffic until models are warm and Qdrant is healthy — the standard readiness pattern.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MONOREPO LAYOUT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Shared primitives, zero logic drift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risk: ingestion and retrieval are separate programs — if they drift apart, retrieval breaks silently. One shared package removes that risk by construction.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822960" y="256032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1097280" y="27889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apps/api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4114800" y="272484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Chat orchestration, SSE streaming, conversational query rewriter, CPU-based E5-Base retrieval client, and runtime citation cross-validator.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9"/>
          <p:cNvSpPr/>
          <p:nvPr/>
        </p:nvSpPr>
        <p:spPr>
          <a:xfrm>
            <a:off x="822960" y="376740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1097280" y="39960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apps/shared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4114800" y="393192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single source of truth: token-aware sliding chunker, canonical e5 prefixes, typed Qdrant payload schemas, and shared citation regex.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2"/>
          <p:cNvSpPr/>
          <p:nvPr/>
        </p:nvSpPr>
        <p:spPr>
          <a:xfrm>
            <a:off x="822960" y="497448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1097280" y="520308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apps/ingestion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4114800" y="513900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~1,000 JSON statute parsers, 2,000+ court PDF extractors, batch CPU passage embedding, and Qdrant upsert with retry backoff.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RETRIEVAL ROADMAP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index, three languages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goal: fine-tune an embedding model with a context window big enough for whole provisions — one that distinguishes Bangla, Banglish, and English in a single index.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6"/>
          <p:cNvSpPr/>
          <p:nvPr/>
        </p:nvSpPr>
        <p:spPr>
          <a:xfrm>
            <a:off x="82296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109728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35,312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8"/>
          <p:cNvSpPr/>
          <p:nvPr/>
        </p:nvSpPr>
        <p:spPr>
          <a:xfrm>
            <a:off x="109728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109728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statutory sections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across ~1,000 acts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0"/>
          <p:cNvSpPr/>
          <p:nvPr/>
        </p:nvSpPr>
        <p:spPr>
          <a:xfrm>
            <a:off x="358452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385884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512+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385884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385884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token context window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whole provisions, not fragments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4"/>
          <p:cNvSpPr/>
          <p:nvPr/>
        </p:nvSpPr>
        <p:spPr>
          <a:xfrm>
            <a:off x="63460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66204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6"/>
          <p:cNvSpPr/>
          <p:nvPr/>
        </p:nvSpPr>
        <p:spPr>
          <a:xfrm>
            <a:off x="66204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66204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languages, one index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Bangla · Banglish · English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8"/>
          <p:cNvSpPr/>
          <p:nvPr/>
        </p:nvSpPr>
        <p:spPr>
          <a:xfrm>
            <a:off x="91072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9"/>
          <p:cNvSpPr/>
          <p:nvPr/>
        </p:nvSpPr>
        <p:spPr>
          <a:xfrm>
            <a:off x="93816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20"/>
          <p:cNvSpPr/>
          <p:nvPr/>
        </p:nvSpPr>
        <p:spPr>
          <a:xfrm>
            <a:off x="93816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1"/>
          <p:cNvSpPr/>
          <p:nvPr/>
        </p:nvSpPr>
        <p:spPr>
          <a:xfrm>
            <a:off x="93816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fine-tuned embedder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domain-adapted for Bangladeshi law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822960" y="58064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Off-the-shelf multilingual models are the starting point; a trilingual, domain-tuned embedder is the next step — with the benchmark harness already in place to measure 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HOW GROUNDING WORKS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question, five steps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5"/>
          <p:cNvSpPr/>
          <p:nvPr/>
        </p:nvSpPr>
        <p:spPr>
          <a:xfrm>
            <a:off x="822960" y="192024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822960" y="199332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1600200" y="199332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Rewrite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3291840" y="193860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 follow-up like “</a:t>
            </a:r>
            <a:r>
              <a:rPr lang="hi-IN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শাস্তি কত বছর</a:t>
            </a: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?” is condensed into a standalone query using the conversation.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9"/>
          <p:cNvSpPr/>
          <p:nvPr/>
        </p:nvSpPr>
        <p:spPr>
          <a:xfrm>
            <a:off x="822960" y="28072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822960" y="288036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1600200" y="288036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Retrieve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3291840" y="28256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query is embedded and searched against 35,312 sections; hits collapse to whole sections, not fragments.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3"/>
          <p:cNvSpPr/>
          <p:nvPr/>
        </p:nvSpPr>
        <p:spPr>
          <a:xfrm>
            <a:off x="822960" y="369432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822960" y="376740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1600200" y="376740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Gate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3291840" y="371232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Top score below 0.79 → clarify without calling the model. Below 0.83 → the model is warned and decides whether to ask.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7"/>
          <p:cNvSpPr/>
          <p:nvPr/>
        </p:nvSpPr>
        <p:spPr>
          <a:xfrm>
            <a:off x="822960" y="458100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822960" y="465444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1600200" y="465444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Prompt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0"/>
          <p:cNvSpPr/>
          <p:nvPr/>
        </p:nvSpPr>
        <p:spPr>
          <a:xfrm>
            <a:off x="3291840" y="459936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Sources are labeled [Source 1..k] with full text; the model must cite only what it was given.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21"/>
          <p:cNvSpPr/>
          <p:nvPr/>
        </p:nvSpPr>
        <p:spPr>
          <a:xfrm>
            <a:off x="822960" y="546804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822960" y="554112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1600200" y="554112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Answer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4"/>
          <p:cNvSpPr/>
          <p:nvPr/>
        </p:nvSpPr>
        <p:spPr>
          <a:xfrm>
            <a:off x="3291840" y="548640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Streamed to the user; citation numbers are validated against the provided sources before display.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CONFIDENCE GATING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Calibrated protection against hallucinations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requirement: refuse rather than guess. Two tuned thresholds turn retrieval similarity into a deterministic guardrail.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6"/>
          <p:cNvSpPr/>
          <p:nvPr/>
        </p:nvSpPr>
        <p:spPr>
          <a:xfrm>
            <a:off x="822960" y="2286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7"/>
          <p:cNvSpPr/>
          <p:nvPr/>
        </p:nvSpPr>
        <p:spPr>
          <a:xfrm>
            <a:off x="1097280" y="2514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Score &lt; 0.79 · Clarify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4846320" y="2423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Off-topic or out-of-domain. The LLM is never invoked — the user gets a targeted clarification message. Zero hallucination risk, zero wasted compute.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9"/>
          <p:cNvSpPr/>
          <p:nvPr/>
        </p:nvSpPr>
        <p:spPr>
          <a:xfrm>
            <a:off x="822960" y="3429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1097280" y="3657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0.79 – 0.83 · Warn &amp; ground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4846320" y="3566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Marginal match. Retrieved sections are injected with a mandatory caution directive: state the ambiguity, ask for missing facts.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2"/>
          <p:cNvSpPr/>
          <p:nvPr/>
        </p:nvSpPr>
        <p:spPr>
          <a:xfrm>
            <a:off x="822960" y="4572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3"/>
          <p:cNvSpPr/>
          <p:nvPr/>
        </p:nvSpPr>
        <p:spPr>
          <a:xfrm>
            <a:off x="1097280" y="4800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Score ≥ 0.83 · Full answer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4846320" y="4709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High-confidence retrieval. The model synthesizes an authoritative answer with strict bracketed citations verified against source context.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822960" y="58064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Calibrated against e5 dynamic range: 'best pizza recipe' scores 0.781; real citizen threats score 0.818 (§503).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FINE-TUNING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Teaching behavior, not law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model learns when to cite, when to ask, and when to decline. Statutes come from retrieval at runtime.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6"/>
          <p:cNvSpPr/>
          <p:nvPr/>
        </p:nvSpPr>
        <p:spPr>
          <a:xfrm>
            <a:off x="82296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109728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1,000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8"/>
          <p:cNvSpPr/>
          <p:nvPr/>
        </p:nvSpPr>
        <p:spPr>
          <a:xfrm>
            <a:off x="109728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9"/>
          <p:cNvSpPr/>
          <p:nvPr/>
        </p:nvSpPr>
        <p:spPr>
          <a:xfrm>
            <a:off x="109728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curated examples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630 Q&amp;A · 170 situational · 125 clarification · 75 abstention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0"/>
          <p:cNvSpPr/>
          <p:nvPr/>
        </p:nvSpPr>
        <p:spPr>
          <a:xfrm>
            <a:off x="358452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385884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Gemma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12"/>
          <p:cNvSpPr/>
          <p:nvPr/>
        </p:nvSpPr>
        <p:spPr>
          <a:xfrm>
            <a:off x="385884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3"/>
          <p:cNvSpPr/>
          <p:nvPr/>
        </p:nvSpPr>
        <p:spPr>
          <a:xfrm>
            <a:off x="385884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31B base · LoRA r16 α32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all linear projections · 4-bit quantized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4"/>
          <p:cNvSpPr/>
          <p:nvPr/>
        </p:nvSpPr>
        <p:spPr>
          <a:xfrm>
            <a:off x="63460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5"/>
          <p:cNvSpPr/>
          <p:nvPr/>
        </p:nvSpPr>
        <p:spPr>
          <a:xfrm>
            <a:off x="66204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0.387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6"/>
          <p:cNvSpPr/>
          <p:nvPr/>
        </p:nvSpPr>
        <p:spPr>
          <a:xfrm>
            <a:off x="66204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7"/>
          <p:cNvSpPr/>
          <p:nvPr/>
        </p:nvSpPr>
        <p:spPr>
          <a:xfrm>
            <a:off x="66204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final eval loss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down from 0.655 baseline in 250 steps, 40 min on RTX 6000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8"/>
          <p:cNvSpPr/>
          <p:nvPr/>
        </p:nvSpPr>
        <p:spPr>
          <a:xfrm>
            <a:off x="91072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93816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100%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20"/>
          <p:cNvSpPr/>
          <p:nvPr/>
        </p:nvSpPr>
        <p:spPr>
          <a:xfrm>
            <a:off x="93816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21"/>
          <p:cNvSpPr/>
          <p:nvPr/>
        </p:nvSpPr>
        <p:spPr>
          <a:xfrm>
            <a:off x="93816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verified citations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machine-checked against prompt context; 16 failing rows culled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SERVING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model, three hardware tiers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5"/>
          <p:cNvSpPr/>
          <p:nvPr/>
        </p:nvSpPr>
        <p:spPr>
          <a:xfrm>
            <a:off x="82296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109728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BF16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7"/>
          <p:cNvSpPr/>
          <p:nvPr/>
        </p:nvSpPr>
        <p:spPr>
          <a:xfrm>
            <a:off x="109728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~62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8"/>
          <p:cNvSpPr/>
          <p:nvPr/>
        </p:nvSpPr>
        <p:spPr>
          <a:xfrm>
            <a:off x="109728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institutional, multi-GPU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9"/>
          <p:cNvSpPr/>
          <p:nvPr/>
        </p:nvSpPr>
        <p:spPr>
          <a:xfrm>
            <a:off x="451728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479160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Q8_0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1"/>
          <p:cNvSpPr/>
          <p:nvPr/>
        </p:nvSpPr>
        <p:spPr>
          <a:xfrm>
            <a:off x="479160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~32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2"/>
          <p:cNvSpPr/>
          <p:nvPr/>
        </p:nvSpPr>
        <p:spPr>
          <a:xfrm>
            <a:off x="479160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single high-end GPU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3"/>
          <p:cNvSpPr/>
          <p:nvPr/>
        </p:nvSpPr>
        <p:spPr>
          <a:xfrm>
            <a:off x="821124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4"/>
          <p:cNvSpPr/>
          <p:nvPr/>
        </p:nvSpPr>
        <p:spPr>
          <a:xfrm>
            <a:off x="848556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Q4_K_M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5"/>
          <p:cNvSpPr/>
          <p:nvPr/>
        </p:nvSpPr>
        <p:spPr>
          <a:xfrm>
            <a:off x="848556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~18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6"/>
          <p:cNvSpPr/>
          <p:nvPr/>
        </p:nvSpPr>
        <p:spPr>
          <a:xfrm>
            <a:off x="848556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consumer GPU / CPU (the demo tier)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7"/>
          <p:cNvSpPr/>
          <p:nvPr/>
        </p:nvSpPr>
        <p:spPr>
          <a:xfrm>
            <a:off x="822960" y="37490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Serving details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8"/>
          <p:cNvSpPr/>
          <p:nvPr/>
        </p:nvSpPr>
        <p:spPr>
          <a:xfrm>
            <a:off x="822960" y="42519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llama.cpp exposes an OpenAI-compatible API — the de-facto standard — so local GGUF, Groq cloud, and vLLM are interchangeable via environment variables alone.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9"/>
          <p:cNvSpPr/>
          <p:nvPr/>
        </p:nvSpPr>
        <p:spPr>
          <a:xfrm>
            <a:off x="822960" y="47548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Structured output (answer, citations, limitations) is enforced with instructor; invalid citation numbers are dropped before an answer reaches the user.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0"/>
          <p:cNvSpPr/>
          <p:nvPr/>
        </p:nvSpPr>
        <p:spPr>
          <a:xfrm>
            <a:off x="822960" y="5257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Requirement for legal data: it never leaves the machine — fully offline, zero telemetry, zero cloud egress, client confidentiality intact.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OBSERVABILITY &amp; RESILIENCE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Production telemetry and fault isolation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Enterprise AI systems must never fail silently, and must never crash the UI with raw stack traces.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6"/>
          <p:cNvSpPr/>
          <p:nvPr/>
        </p:nvSpPr>
        <p:spPr>
          <a:xfrm>
            <a:off x="822960" y="256032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7"/>
          <p:cNvSpPr/>
          <p:nvPr/>
        </p:nvSpPr>
        <p:spPr>
          <a:xfrm>
            <a:off x="1097280" y="27889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LangSmith tracing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4114800" y="267012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Per-request trace trees recording CPU embedding latency, Qdrant vector distances, and LLM token throughput. Compliance officers can inspect the exact prompt, chunks, and scores behind any answer.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9"/>
          <p:cNvSpPr/>
          <p:nvPr/>
        </p:nvSpPr>
        <p:spPr>
          <a:xfrm>
            <a:off x="822960" y="376740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0"/>
          <p:cNvSpPr/>
          <p:nvPr/>
        </p:nvSpPr>
        <p:spPr>
          <a:xfrm>
            <a:off x="1097280" y="39960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Shielded errors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1"/>
          <p:cNvSpPr/>
          <p:nvPr/>
        </p:nvSpPr>
        <p:spPr>
          <a:xfrm>
            <a:off x="4114800" y="387720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504 gateway timeouts and 429 quota limits are caught mid-stream and transformed into graceful user-facing error cards. Zero raw tracebacks are ever exposed to the interface.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2"/>
          <p:cNvSpPr/>
          <p:nvPr/>
        </p:nvSpPr>
        <p:spPr>
          <a:xfrm>
            <a:off x="822960" y="497448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3"/>
          <p:cNvSpPr/>
          <p:nvPr/>
        </p:nvSpPr>
        <p:spPr>
          <a:xfrm>
            <a:off x="1097280" y="520308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Cold-boot gating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4"/>
          <p:cNvSpPr/>
          <p:nvPr/>
        </p:nvSpPr>
        <p:spPr>
          <a:xfrm>
            <a:off x="4114800" y="508392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FastAPI lifespan handlers verify sentence-transformers are loaded and Qdrant responds healthy. Traffic is blocked until the stack is 100% operational — zero cold-start failures.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5"/>
          <p:cNvSpPr/>
          <p:nvPr/>
        </p:nvSpPr>
        <p:spPr>
          <a:xfrm>
            <a:off x="822960" y="61722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Every inference step is auditable with zero latency overhead when tracing is disabled.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F6E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97280" y="2011680"/>
            <a:ext cx="10058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5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Thank You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LegalBuddy — questions welcome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97280" y="5303520"/>
            <a:ext cx="1005804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Technopreneurship 2.0 by Gigalogy – session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— Istiaqur Rahman Fuad, University of Rajshahi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2026-09-05T10:00:41Z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